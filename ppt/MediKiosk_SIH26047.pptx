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190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1097280"/>
            <a:ext cx="3840480" cy="3840480"/>
          </a:xfrm>
          <a:prstGeom prst="ellipse">
            <a:avLst/>
          </a:prstGeom>
          <a:solidFill>
            <a:srgbClr val="0B5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0B5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13248" y="685800"/>
            <a:ext cx="137160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200">
                <a:solidFill>
                  <a:srgbClr val="14283A"/>
                </a:solidFill>
                <a:latin typeface="Segoe UI Emoji"/>
              </a:rPr>
              <a:t>👨‍⚕️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196596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MediKiosk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97180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BFE8E5"/>
                </a:solidFill>
                <a:latin typeface="Segoe UI"/>
              </a:rPr>
              <a:t>AI-Powered Clinical History Kiosk with Live Talking Doctor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648" y="3794760"/>
            <a:ext cx="4114800" cy="50292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PS SIH26047  •  Ministry of AYUSH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44348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Smart India Hackathon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9507" y="544068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1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🎤 Voice+Touch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49827" y="544068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1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🧾 Scan Reports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544068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1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🩺 FHIR/HIS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0467" y="544068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1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🚪 OPD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7C7B"/>
                </a:solidFill>
                <a:latin typeface="Segoe UI"/>
              </a:rPr>
              <a:t>THE PROBLEM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283A"/>
                </a:solidFill>
                <a:latin typeface="Segoe UI"/>
              </a:rPr>
              <a:t>OPD Case-Taking Is Broken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147" y="1600200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5147" y="1600200"/>
            <a:ext cx="128016" cy="1874519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187" y="2011680"/>
            <a:ext cx="10058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400">
                <a:solidFill>
                  <a:srgbClr val="14283A"/>
                </a:solidFill>
                <a:latin typeface="Segoe UI Emoji"/>
              </a:rPr>
              <a:t>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2467" y="1920240"/>
            <a:ext cx="1874520" cy="13258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4283A"/>
                </a:solidFill>
                <a:latin typeface="Segoe UI"/>
              </a:rPr>
              <a:t>Long queues,</a:t>
            </a:r>
          </a:p>
          <a:p>
            <a:pPr algn="l"/>
            <a:r>
              <a:rPr sz="1700" b="1">
                <a:solidFill>
                  <a:srgbClr val="14283A"/>
                </a:solidFill>
                <a:latin typeface="Segoe UI"/>
              </a:rPr>
              <a:t>~5 min per patient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5627" y="1600200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35627" y="1600200"/>
            <a:ext cx="128016" cy="1874519"/>
          </a:xfrm>
          <a:prstGeom prst="roundRect">
            <a:avLst>
              <a:gd name="adj" fmla="val 50000"/>
            </a:avLst>
          </a:prstGeom>
          <a:solidFill>
            <a:srgbClr val="247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5667" y="2011680"/>
            <a:ext cx="10058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400">
                <a:solidFill>
                  <a:srgbClr val="14283A"/>
                </a:solidFill>
                <a:latin typeface="Segoe UI Emoji"/>
              </a:rPr>
              <a:t>✍️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52947" y="1920240"/>
            <a:ext cx="1874520" cy="13258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4283A"/>
                </a:solidFill>
                <a:latin typeface="Segoe UI"/>
              </a:rPr>
              <a:t>Doctor writes</a:t>
            </a:r>
          </a:p>
          <a:p>
            <a:pPr algn="l"/>
            <a:r>
              <a:rPr sz="1700" b="1">
                <a:solidFill>
                  <a:srgbClr val="14283A"/>
                </a:solidFill>
                <a:latin typeface="Segoe UI"/>
              </a:rPr>
              <a:t>history by hand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6107" y="1600200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76107" y="1600200"/>
            <a:ext cx="128016" cy="1874519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96147" y="2011680"/>
            <a:ext cx="10058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400">
                <a:solidFill>
                  <a:srgbClr val="14283A"/>
                </a:solidFill>
                <a:latin typeface="Segoe UI Emoji"/>
              </a:rPr>
              <a:t>🗃️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93427" y="1920240"/>
            <a:ext cx="1874520" cy="13258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4283A"/>
                </a:solidFill>
                <a:latin typeface="Segoe UI"/>
              </a:rPr>
              <a:t>Old prescriptions</a:t>
            </a:r>
          </a:p>
          <a:p>
            <a:pPr algn="l"/>
            <a:r>
              <a:rPr sz="1700" b="1">
                <a:solidFill>
                  <a:srgbClr val="14283A"/>
                </a:solidFill>
                <a:latin typeface="Segoe UI"/>
              </a:rPr>
              <a:t>&amp; reports are paper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5147" y="3794759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5147" y="3794759"/>
            <a:ext cx="128016" cy="1874519"/>
          </a:xfrm>
          <a:prstGeom prst="roundRect">
            <a:avLst>
              <a:gd name="adj" fmla="val 50000"/>
            </a:avLst>
          </a:prstGeom>
          <a:solidFill>
            <a:srgbClr val="E1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187" y="4206239"/>
            <a:ext cx="10058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400">
                <a:solidFill>
                  <a:srgbClr val="14283A"/>
                </a:solidFill>
                <a:latin typeface="Segoe UI Emoji"/>
              </a:rPr>
              <a:t>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12467" y="4114799"/>
            <a:ext cx="1874520" cy="13258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4283A"/>
                </a:solidFill>
                <a:latin typeface="Segoe UI"/>
              </a:rPr>
              <a:t>Patient forgets meds,</a:t>
            </a:r>
          </a:p>
          <a:p>
            <a:pPr algn="l"/>
            <a:r>
              <a:rPr sz="1700" b="1">
                <a:solidFill>
                  <a:srgbClr val="14283A"/>
                </a:solidFill>
                <a:latin typeface="Segoe UI"/>
              </a:rPr>
              <a:t>doses, allergies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5627" y="3794759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35627" y="3794759"/>
            <a:ext cx="128016" cy="1874519"/>
          </a:xfrm>
          <a:prstGeom prst="roundRect">
            <a:avLst>
              <a:gd name="adj" fmla="val 50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55667" y="4206239"/>
            <a:ext cx="10058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400">
                <a:solidFill>
                  <a:srgbClr val="14283A"/>
                </a:solidFill>
                <a:latin typeface="Segoe UI Emoji"/>
              </a:rPr>
              <a:t>🗣️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52947" y="4114799"/>
            <a:ext cx="1874520" cy="13258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4283A"/>
                </a:solidFill>
                <a:latin typeface="Segoe UI"/>
              </a:rPr>
              <a:t>Language &amp; literacy</a:t>
            </a:r>
          </a:p>
          <a:p>
            <a:pPr algn="l"/>
            <a:r>
              <a:rPr sz="1700" b="1">
                <a:solidFill>
                  <a:srgbClr val="14283A"/>
                </a:solidFill>
                <a:latin typeface="Segoe UI"/>
              </a:rPr>
              <a:t>barriers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76107" y="3794759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76107" y="3794759"/>
            <a:ext cx="128016" cy="1874519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96147" y="4206239"/>
            <a:ext cx="10058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400">
                <a:solidFill>
                  <a:srgbClr val="14283A"/>
                </a:solidFill>
                <a:latin typeface="Segoe UI Emoji"/>
              </a:rPr>
              <a:t>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3427" y="4114799"/>
            <a:ext cx="1874520" cy="13258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4283A"/>
                </a:solidFill>
                <a:latin typeface="Segoe UI"/>
              </a:rPr>
              <a:t>Red-flag symptoms</a:t>
            </a:r>
          </a:p>
          <a:p>
            <a:pPr algn="l"/>
            <a:r>
              <a:rPr sz="1700" b="1">
                <a:solidFill>
                  <a:srgbClr val="14283A"/>
                </a:solidFill>
                <a:latin typeface="Segoe UI"/>
              </a:rPr>
              <a:t>wait in routine queue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0807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14D43"/>
                </a:solidFill>
                <a:latin typeface="Segoe UI"/>
              </a:rPr>
              <a:t>⏱  Doctors spend consultation time collecting history instead of treating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7C7B"/>
                </a:solidFill>
                <a:latin typeface="Segoe UI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283A"/>
                </a:solidFill>
                <a:latin typeface="Segoe UI"/>
              </a:rPr>
              <a:t>One Kiosk Walk-In — 5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5731" y="1920240"/>
            <a:ext cx="196596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04391" y="1645920"/>
            <a:ext cx="548640" cy="548640"/>
          </a:xfrm>
          <a:prstGeom prst="ellipse">
            <a:avLst/>
          </a:prstGeom>
          <a:solidFill>
            <a:srgbClr val="0E7C7B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731" y="2331720"/>
            <a:ext cx="19659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800">
                <a:solidFill>
                  <a:srgbClr val="14283A"/>
                </a:solidFill>
                <a:latin typeface="Segoe UI Emoji"/>
              </a:rPr>
              <a:t>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5731" y="3291840"/>
            <a:ext cx="1965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283A"/>
                </a:solidFill>
                <a:latin typeface="Segoe UI"/>
              </a:rPr>
              <a:t>Identify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171" y="374904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6B70"/>
                </a:solidFill>
                <a:latin typeface="Segoe UI"/>
              </a:rPr>
              <a:t>ABHA ID /</a:t>
            </a:r>
          </a:p>
          <a:p>
            <a:pPr algn="ctr"/>
            <a:r>
              <a:rPr sz="1300" b="0">
                <a:solidFill>
                  <a:srgbClr val="5A6B70"/>
                </a:solidFill>
                <a:latin typeface="Segoe UI"/>
              </a:rPr>
              <a:t>new registration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79979" y="3154680"/>
            <a:ext cx="411480" cy="274320"/>
          </a:xfrm>
          <a:prstGeom prst="rightArrow">
            <a:avLst/>
          </a:prstGeom>
          <a:solidFill>
            <a:srgbClr val="5A6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54299" y="1920240"/>
            <a:ext cx="196596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62959" y="1645920"/>
            <a:ext cx="548640" cy="548640"/>
          </a:xfrm>
          <a:prstGeom prst="ellipse">
            <a:avLst/>
          </a:prstGeom>
          <a:solidFill>
            <a:srgbClr val="2EA84F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4299" y="2331720"/>
            <a:ext cx="19659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800">
                <a:solidFill>
                  <a:srgbClr val="14283A"/>
                </a:solidFill>
                <a:latin typeface="Segoe UI Emoji"/>
              </a:rPr>
              <a:t>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4299" y="3291840"/>
            <a:ext cx="1965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283A"/>
                </a:solidFill>
                <a:latin typeface="Segoe UI"/>
              </a:rPr>
              <a:t>Consent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5739" y="374904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6B70"/>
                </a:solidFill>
                <a:latin typeface="Segoe UI"/>
              </a:rPr>
              <a:t>Audio-guided,</a:t>
            </a:r>
          </a:p>
          <a:p>
            <a:pPr algn="ctr"/>
            <a:r>
              <a:rPr sz="1300" b="0">
                <a:solidFill>
                  <a:srgbClr val="5A6B70"/>
                </a:solidFill>
                <a:latin typeface="Segoe UI"/>
              </a:rPr>
              <a:t>EN / HI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38547" y="3154680"/>
            <a:ext cx="411480" cy="274320"/>
          </a:xfrm>
          <a:prstGeom prst="rightArrow">
            <a:avLst/>
          </a:prstGeom>
          <a:solidFill>
            <a:srgbClr val="5A6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12867" y="1920240"/>
            <a:ext cx="196596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21527" y="1645920"/>
            <a:ext cx="548640" cy="548640"/>
          </a:xfrm>
          <a:prstGeom prst="ellipse">
            <a:avLst/>
          </a:prstGeom>
          <a:solidFill>
            <a:srgbClr val="2471B8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2867" y="2331720"/>
            <a:ext cx="19659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800">
                <a:solidFill>
                  <a:srgbClr val="14283A"/>
                </a:solidFill>
                <a:latin typeface="Segoe UI Emoji"/>
              </a:rPr>
              <a:t>🧑‍⚕️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2867" y="3291840"/>
            <a:ext cx="1965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283A"/>
                </a:solidFill>
                <a:latin typeface="Segoe UI"/>
              </a:rPr>
              <a:t>Talk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4307" y="374904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6B70"/>
                </a:solidFill>
                <a:latin typeface="Segoe UI"/>
              </a:rPr>
              <a:t>Dr. Sahayak</a:t>
            </a:r>
          </a:p>
          <a:p>
            <a:pPr algn="ctr"/>
            <a:r>
              <a:rPr sz="1300" b="0">
                <a:solidFill>
                  <a:srgbClr val="5A6B70"/>
                </a:solidFill>
                <a:latin typeface="Segoe UI"/>
              </a:rPr>
              <a:t>AI interview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97115" y="3154680"/>
            <a:ext cx="411480" cy="274320"/>
          </a:xfrm>
          <a:prstGeom prst="rightArrow">
            <a:avLst/>
          </a:prstGeom>
          <a:solidFill>
            <a:srgbClr val="5A6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71435" y="1920240"/>
            <a:ext cx="196596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80095" y="1645920"/>
            <a:ext cx="548640" cy="548640"/>
          </a:xfrm>
          <a:prstGeom prst="ellipse">
            <a:avLst/>
          </a:prstGeom>
          <a:solidFill>
            <a:srgbClr val="6A4C93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1435" y="2331720"/>
            <a:ext cx="19659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800">
                <a:solidFill>
                  <a:srgbClr val="14283A"/>
                </a:solidFill>
                <a:latin typeface="Segoe UI Emoji"/>
              </a:rPr>
              <a:t>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1435" y="3291840"/>
            <a:ext cx="1965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283A"/>
                </a:solidFill>
                <a:latin typeface="Segoe UI"/>
              </a:rPr>
              <a:t>Scan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2875" y="374904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6B70"/>
                </a:solidFill>
                <a:latin typeface="Segoe UI"/>
              </a:rPr>
              <a:t>Prescriptions &amp;</a:t>
            </a:r>
          </a:p>
          <a:p>
            <a:pPr algn="ctr"/>
            <a:r>
              <a:rPr sz="1300" b="0">
                <a:solidFill>
                  <a:srgbClr val="5A6B70"/>
                </a:solidFill>
                <a:latin typeface="Segoe UI"/>
              </a:rPr>
              <a:t>lab reports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355683" y="3154680"/>
            <a:ext cx="411480" cy="274320"/>
          </a:xfrm>
          <a:prstGeom prst="rightArrow">
            <a:avLst/>
          </a:prstGeom>
          <a:solidFill>
            <a:srgbClr val="5A6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30003" y="1920240"/>
            <a:ext cx="196596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38663" y="1645920"/>
            <a:ext cx="548640" cy="548640"/>
          </a:xfrm>
          <a:prstGeom prst="ellipse">
            <a:avLst/>
          </a:prstGeom>
          <a:solidFill>
            <a:srgbClr val="F39C12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0003" y="2331720"/>
            <a:ext cx="19659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800">
                <a:solidFill>
                  <a:srgbClr val="14283A"/>
                </a:solidFill>
                <a:latin typeface="Segoe UI Emoji"/>
              </a:rPr>
              <a:t>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0003" y="3291840"/>
            <a:ext cx="1965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283A"/>
                </a:solidFill>
                <a:latin typeface="Segoe UI"/>
              </a:rPr>
              <a:t>Summary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1443" y="374904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6B70"/>
                </a:solidFill>
                <a:latin typeface="Segoe UI"/>
              </a:rPr>
              <a:t>Structured draft</a:t>
            </a:r>
          </a:p>
          <a:p>
            <a:pPr algn="ctr"/>
            <a:r>
              <a:rPr sz="1300" b="0">
                <a:solidFill>
                  <a:srgbClr val="5A6B70"/>
                </a:solidFill>
                <a:latin typeface="Segoe UI"/>
              </a:rPr>
              <a:t>to physician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7280" y="5257800"/>
            <a:ext cx="9966960" cy="9144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" y="544068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✅  Patient walks out • Doctor gets ready-made structured history • Session data auto-purged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7C7B"/>
                </a:solidFill>
                <a:latin typeface="Segoe UI"/>
              </a:rPr>
              <a:t>THE DIFFERENTIATOR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283A"/>
                </a:solidFill>
                <a:latin typeface="Segoe UI"/>
              </a:rPr>
              <a:t>Meet Dr. Sahayak — The Talking AI Doctor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206240" cy="4480560"/>
          </a:xfrm>
          <a:prstGeom prst="roundRect">
            <a:avLst>
              <a:gd name="adj" fmla="val 6000"/>
            </a:avLst>
          </a:prstGeom>
          <a:solidFill>
            <a:srgbClr val="142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874519"/>
            <a:ext cx="3657600" cy="3017520"/>
          </a:xfrm>
          <a:prstGeom prst="roundRect">
            <a:avLst>
              <a:gd name="adj" fmla="val 4000"/>
            </a:avLst>
          </a:prstGeom>
          <a:solidFill>
            <a:srgbClr val="1F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2377440"/>
            <a:ext cx="146304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0">
                <a:solidFill>
                  <a:srgbClr val="14283A"/>
                </a:solidFill>
                <a:latin typeface="Segoe UI Emoji"/>
              </a:rPr>
              <a:t>🧑‍⚕️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41605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422452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🗣️  Lip-synced video</a:t>
            </a:r>
          </a:p>
        </p:txBody>
      </p:sp>
      <p:sp>
        <p:nvSpPr>
          <p:cNvPr id="11" name="Oval 10"/>
          <p:cNvSpPr/>
          <p:nvPr/>
        </p:nvSpPr>
        <p:spPr>
          <a:xfrm>
            <a:off x="2331720" y="5074920"/>
            <a:ext cx="1005840" cy="1005840"/>
          </a:xfrm>
          <a:prstGeom prst="ellipse">
            <a:avLst/>
          </a:prstGeom>
          <a:solidFill>
            <a:srgbClr val="E1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/>
              <a:t>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292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</a:p>
        </p:txBody>
      </p:sp>
      <p:sp>
        <p:nvSpPr>
          <p:cNvPr id="13" name="Rounded Rectangle 12"/>
          <p:cNvSpPr/>
          <p:nvPr/>
        </p:nvSpPr>
        <p:spPr>
          <a:xfrm>
            <a:off x="5486400" y="1645920"/>
            <a:ext cx="60350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0" y="1645920"/>
            <a:ext cx="128016" cy="2057400"/>
          </a:xfrm>
          <a:prstGeom prst="roundRect">
            <a:avLst>
              <a:gd name="adj" fmla="val 50000"/>
            </a:avLst>
          </a:prstGeom>
          <a:solidFill>
            <a:srgbClr val="247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1920240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400">
                <a:solidFill>
                  <a:srgbClr val="14283A"/>
                </a:solidFill>
                <a:latin typeface="Segoe UI Emoji"/>
              </a:rPr>
              <a:t>🎞️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810512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471B8"/>
                </a:solidFill>
                <a:latin typeface="Segoe UI"/>
              </a:rPr>
              <a:t>Video Mode (primary)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286000"/>
            <a:ext cx="4389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6B70"/>
                </a:solidFill>
                <a:latin typeface="Segoe UI"/>
              </a:rPr>
              <a:t>Photoreal avatar conducts SOCRATES-style</a:t>
            </a:r>
          </a:p>
          <a:p>
            <a:pPr algn="l"/>
            <a:r>
              <a:rPr sz="1500" b="0">
                <a:solidFill>
                  <a:srgbClr val="5A6B70"/>
                </a:solidFill>
                <a:latin typeface="Segoe UI"/>
              </a:rPr>
              <a:t>adaptive questioning — voice in, face 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4069080"/>
            <a:ext cx="60350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0" y="4069080"/>
            <a:ext cx="128016" cy="2057400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4343400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400">
                <a:solidFill>
                  <a:srgbClr val="14283A"/>
                </a:solidFill>
                <a:latin typeface="Segoe UI Emoji"/>
              </a:rPr>
              <a:t>☟️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233672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6A4C93"/>
                </a:solidFill>
                <a:latin typeface="Segoe UI"/>
              </a:rPr>
              <a:t>Touch Mode (fallback)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709160"/>
            <a:ext cx="4389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6B70"/>
                </a:solidFill>
                <a:latin typeface="Segoe UI"/>
              </a:rPr>
              <a:t>Icon MCQ taps + voice — works when noise,</a:t>
            </a:r>
          </a:p>
          <a:p>
            <a:pPr algn="l"/>
            <a:r>
              <a:rPr sz="1500" b="0">
                <a:solidFill>
                  <a:srgbClr val="5A6B70"/>
                </a:solidFill>
                <a:latin typeface="Segoe UI"/>
              </a:rPr>
              <a:t>low literacy or avatar failure hits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6263640"/>
            <a:ext cx="5486400" cy="411480"/>
          </a:xfrm>
          <a:prstGeom prst="roundRect">
            <a:avLst>
              <a:gd name="adj" fmla="val 50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🕍  AYUSH mode: full Dashavidha Pariksha capture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7C7B"/>
                </a:solidFill>
                <a:latin typeface="Segoe UI"/>
              </a:rPr>
              <a:t>TECHNICAL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283A"/>
                </a:solidFill>
                <a:latin typeface="Segoe UI"/>
              </a:rP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7335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7C7B"/>
                </a:solidFill>
                <a:latin typeface="Segoe UI"/>
              </a:rPr>
              <a:t>KIOSK FRONTEND (React)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>
                <a:solidFill>
                  <a:srgbClr val="14283A"/>
                </a:solidFill>
                <a:latin typeface="Segoe UI Emoji"/>
              </a:rPr>
              <a:t>🧑‍⚕️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2176272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83A"/>
                </a:solidFill>
                <a:latin typeface="Segoe UI"/>
              </a:rPr>
              <a:t>Avatar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05740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>
                <a:solidFill>
                  <a:srgbClr val="14283A"/>
                </a:solidFill>
                <a:latin typeface="Segoe UI Emoji"/>
              </a:rPr>
              <a:t>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2176272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83A"/>
                </a:solidFill>
                <a:latin typeface="Segoe UI"/>
              </a:rPr>
              <a:t>Voice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05740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>
                <a:solidFill>
                  <a:srgbClr val="14283A"/>
                </a:solidFill>
                <a:latin typeface="Segoe UI Emoji"/>
              </a:rPr>
              <a:t>☟️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2176272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83A"/>
                </a:solidFill>
                <a:latin typeface="Segoe UI"/>
              </a:rPr>
              <a:t>Touch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05740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>
                <a:solidFill>
                  <a:srgbClr val="14283A"/>
                </a:solidFill>
                <a:latin typeface="Segoe UI Emoji"/>
              </a:rPr>
              <a:t>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176272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83A"/>
                </a:solidFill>
                <a:latin typeface="Segoe UI"/>
              </a:rPr>
              <a:t>Doc Scan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912967" y="2880360"/>
            <a:ext cx="365760" cy="457200"/>
          </a:xfrm>
          <a:prstGeom prst="downArrow">
            <a:avLst/>
          </a:prstGeom>
          <a:solidFill>
            <a:srgbClr val="5A6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4290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42900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M1 • Interview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7764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6B70"/>
                </a:solidFill>
                <a:latin typeface="Segoe UI"/>
              </a:rPr>
              <a:t>Ontology branching</a:t>
            </a:r>
          </a:p>
          <a:p>
            <a:pPr algn="ctr"/>
            <a:r>
              <a:rPr sz="1300" b="0">
                <a:solidFill>
                  <a:srgbClr val="5A6B70"/>
                </a:solidFill>
                <a:latin typeface="Segoe UI"/>
              </a:rPr>
              <a:t>Red-flag detector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01568" y="34290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01568" y="342900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247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M2 • Document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397764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6B70"/>
                </a:solidFill>
                <a:latin typeface="Segoe UI"/>
              </a:rPr>
              <a:t>VLM OCR extract</a:t>
            </a:r>
          </a:p>
          <a:p>
            <a:pPr algn="ctr"/>
            <a:r>
              <a:rPr sz="1300" b="0">
                <a:solidFill>
                  <a:srgbClr val="5A6B70"/>
                </a:solidFill>
                <a:latin typeface="Segoe UI"/>
              </a:rPr>
              <a:t>Timeline + flags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34290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63056" y="342900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M3 • Summary Generator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216" y="397764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6B70"/>
                </a:solidFill>
                <a:latin typeface="Segoe UI"/>
              </a:rPr>
              <a:t>Physician format</a:t>
            </a:r>
          </a:p>
          <a:p>
            <a:pPr algn="ctr"/>
            <a:r>
              <a:rPr sz="1300" b="0">
                <a:solidFill>
                  <a:srgbClr val="5A6B70"/>
                </a:solidFill>
                <a:latin typeface="Segoe UI"/>
              </a:rPr>
              <a:t>Draft-only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24544" y="34290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24544" y="342900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M4 • Consent &amp; ABDM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1704" y="397764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6B70"/>
                </a:solidFill>
                <a:latin typeface="Segoe UI"/>
              </a:rPr>
              <a:t>ABHA auth</a:t>
            </a:r>
          </a:p>
          <a:p>
            <a:pPr algn="ctr"/>
            <a:r>
              <a:rPr sz="1300" b="0">
                <a:solidFill>
                  <a:srgbClr val="5A6B70"/>
                </a:solidFill>
                <a:latin typeface="Segoe UI"/>
              </a:rPr>
              <a:t>FHIR push + wipe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25780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142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✨ Gemini LLM/VLM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255264" y="5394960"/>
            <a:ext cx="146304" cy="274320"/>
          </a:xfrm>
          <a:prstGeom prst="rightArrow">
            <a:avLst/>
          </a:prstGeom>
          <a:solidFill>
            <a:srgbClr val="5A6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01568" y="525780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142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🎙 ASR / TTS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016752" y="5394960"/>
            <a:ext cx="146304" cy="274320"/>
          </a:xfrm>
          <a:prstGeom prst="rightArrow">
            <a:avLst/>
          </a:prstGeom>
          <a:solidFill>
            <a:srgbClr val="5A6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63056" y="525780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142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🗄️ Postgres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778240" y="5394960"/>
            <a:ext cx="146304" cy="274320"/>
          </a:xfrm>
          <a:prstGeom prst="rightArrow">
            <a:avLst/>
          </a:prstGeom>
          <a:solidFill>
            <a:srgbClr val="5A6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24544" y="525780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142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🏥 HIS (FHIR R4)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5912967" y="4864608"/>
            <a:ext cx="365760" cy="347472"/>
          </a:xfrm>
          <a:prstGeom prst="downArrow">
            <a:avLst/>
          </a:prstGeom>
          <a:solidFill>
            <a:srgbClr val="5A6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A6B70"/>
                </a:solidFill>
                <a:latin typeface="Segoe UI"/>
              </a:rPr>
              <a:t>FastAPI backend  •  Avatar is an accessibility layer — removable without changing the core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7C7B"/>
                </a:solidFill>
                <a:latin typeface="Segoe UI"/>
              </a:rPr>
              <a:t>DOCUMENT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283A"/>
                </a:solidFill>
                <a:latin typeface="Segoe UI"/>
              </a:rPr>
              <a:t>Paper Prescriptions → Structured Timeline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3774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2057400"/>
            <a:ext cx="1188720" cy="1188720"/>
          </a:xfrm>
          <a:prstGeom prst="ellipse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/>
              <a:t>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6B70"/>
                </a:solidFill>
                <a:latin typeface="Segoe UI"/>
              </a:rPr>
              <a:t>Scan / upload</a:t>
            </a:r>
          </a:p>
          <a:p>
            <a:pPr algn="ctr"/>
            <a:r>
              <a:rPr sz="1300" b="0">
                <a:solidFill>
                  <a:srgbClr val="5A6B70"/>
                </a:solidFill>
                <a:latin typeface="Segoe UI"/>
              </a:rPr>
              <a:t>any prescription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3774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60520" y="2057400"/>
            <a:ext cx="1188720" cy="1188720"/>
          </a:xfrm>
          <a:prstGeom prst="ellipse">
            <a:avLst/>
          </a:prstGeom>
          <a:solidFill>
            <a:srgbClr val="247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/>
              <a:t>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33756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6B70"/>
                </a:solidFill>
                <a:latin typeface="Segoe UI"/>
              </a:rPr>
              <a:t>Gemini Vision</a:t>
            </a:r>
          </a:p>
          <a:p>
            <a:pPr algn="ctr"/>
            <a:r>
              <a:rPr sz="1300" b="0">
                <a:solidFill>
                  <a:srgbClr val="5A6B70"/>
                </a:solidFill>
                <a:latin typeface="Segoe UI"/>
              </a:rPr>
              <a:t>OCR extraction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828800"/>
            <a:ext cx="23774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0" y="2057400"/>
            <a:ext cx="1188720" cy="118872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/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33756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6B70"/>
                </a:solidFill>
                <a:latin typeface="Segoe UI"/>
              </a:rPr>
              <a:t>Meds • Labs • Dx</a:t>
            </a:r>
          </a:p>
          <a:p>
            <a:pPr algn="ctr"/>
            <a:r>
              <a:rPr sz="1300" b="0">
                <a:solidFill>
                  <a:srgbClr val="5A6B70"/>
                </a:solidFill>
                <a:latin typeface="Segoe UI"/>
              </a:rPr>
              <a:t>structured 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1828800"/>
            <a:ext cx="23774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21240" y="2057400"/>
            <a:ext cx="1188720" cy="1188720"/>
          </a:xfrm>
          <a:prstGeom prst="ellipse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/>
              <a:t>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333756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6B70"/>
                </a:solidFill>
                <a:latin typeface="Segoe UI"/>
              </a:rPr>
              <a:t>Chronological</a:t>
            </a:r>
          </a:p>
          <a:p>
            <a:pPr algn="ctr"/>
            <a:r>
              <a:rPr sz="1300" b="0">
                <a:solidFill>
                  <a:srgbClr val="5A6B70"/>
                </a:solidFill>
                <a:latin typeface="Segoe UI"/>
              </a:rPr>
              <a:t>medical timeline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108960" y="2697480"/>
            <a:ext cx="411480" cy="274320"/>
          </a:xfrm>
          <a:prstGeom prst="rightArrow">
            <a:avLst/>
          </a:prstGeom>
          <a:solidFill>
            <a:srgbClr val="5A6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5989320" y="2697480"/>
            <a:ext cx="411480" cy="274320"/>
          </a:xfrm>
          <a:prstGeom prst="rightArrow">
            <a:avLst/>
          </a:prstGeom>
          <a:solidFill>
            <a:srgbClr val="5A6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8869680" y="2697480"/>
            <a:ext cx="411480" cy="274320"/>
          </a:xfrm>
          <a:prstGeom prst="rightArrow">
            <a:avLst/>
          </a:prstGeom>
          <a:solidFill>
            <a:srgbClr val="5A6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9447" y="443484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9447" y="4434840"/>
            <a:ext cx="128016" cy="1417320"/>
          </a:xfrm>
          <a:prstGeom prst="roundRect">
            <a:avLst>
              <a:gd name="adj" fmla="val 50000"/>
            </a:avLst>
          </a:prstGeom>
          <a:solidFill>
            <a:srgbClr val="E1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3767" y="4754880"/>
            <a:ext cx="777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400">
                <a:solidFill>
                  <a:srgbClr val="14283A"/>
                </a:solidFill>
                <a:latin typeface="Segoe UI Emoji"/>
              </a:rPr>
              <a:t>⚠️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52447" y="4663440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83A"/>
                </a:solidFill>
                <a:latin typeface="Segoe UI"/>
              </a:rPr>
              <a:t>Abnormal lab values</a:t>
            </a:r>
          </a:p>
          <a:p>
            <a:pPr algn="l"/>
            <a:r>
              <a:rPr sz="1400" b="1">
                <a:solidFill>
                  <a:srgbClr val="14283A"/>
                </a:solidFill>
                <a:latin typeface="Segoe UI"/>
              </a:rPr>
              <a:t>highlighted vs range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4207" y="443484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04207" y="4434840"/>
            <a:ext cx="128016" cy="1417320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78527" y="4754880"/>
            <a:ext cx="777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400">
                <a:solidFill>
                  <a:srgbClr val="14283A"/>
                </a:solidFill>
                <a:latin typeface="Segoe UI Emoji"/>
              </a:rPr>
              <a:t>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47207" y="4663440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83A"/>
                </a:solidFill>
                <a:latin typeface="Segoe UI"/>
              </a:rPr>
              <a:t>Drug-interaction</a:t>
            </a:r>
          </a:p>
          <a:p>
            <a:pPr algn="l"/>
            <a:r>
              <a:rPr sz="1400" b="1">
                <a:solidFill>
                  <a:srgbClr val="14283A"/>
                </a:solidFill>
                <a:latin typeface="Segoe UI"/>
              </a:rPr>
              <a:t>flagging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98967" y="443484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98967" y="4434840"/>
            <a:ext cx="128016" cy="1417320"/>
          </a:xfrm>
          <a:prstGeom prst="roundRect">
            <a:avLst>
              <a:gd name="adj" fmla="val 50000"/>
            </a:avLst>
          </a:prstGeom>
          <a:solidFill>
            <a:srgbClr val="247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73287" y="4754880"/>
            <a:ext cx="7772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400">
                <a:solidFill>
                  <a:srgbClr val="14283A"/>
                </a:solidFill>
                <a:latin typeface="Segoe UI Emoji"/>
              </a:rPr>
              <a:t>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1967" y="4663440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4283A"/>
                </a:solidFill>
                <a:latin typeface="Segoe UI"/>
              </a:rPr>
              <a:t>Low confidence → asks</a:t>
            </a:r>
          </a:p>
          <a:p>
            <a:pPr algn="l"/>
            <a:r>
              <a:rPr sz="1400" b="1">
                <a:solidFill>
                  <a:srgbClr val="14283A"/>
                </a:solidFill>
                <a:latin typeface="Segoe UI"/>
              </a:rPr>
              <a:t>patient to confirm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08076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7C7B"/>
                </a:solidFill>
                <a:latin typeface="Segoe UI"/>
              </a:rPr>
              <a:t>Works on handwritten • printed • Hindi-English mixed documents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7C7B"/>
                </a:solidFill>
                <a:latin typeface="Segoe UI"/>
              </a:rPr>
              <a:t>CLINICAL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283A"/>
                </a:solidFill>
                <a:latin typeface="Segoe UI"/>
              </a:rPr>
              <a:t>Never Misses an Emergency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577840" cy="429768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920240"/>
            <a:ext cx="155448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600">
                <a:solidFill>
                  <a:srgbClr val="14283A"/>
                </a:solidFill>
                <a:latin typeface="Segoe UI Emoji"/>
              </a:rPr>
              <a:t>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14D43"/>
                </a:solidFill>
                <a:latin typeface="Segoe UI"/>
              </a:rPr>
              <a:t>Radiating chest pain • Stroke FAST signs</a:t>
            </a:r>
          </a:p>
        </p:txBody>
      </p:sp>
      <p:sp>
        <p:nvSpPr>
          <p:cNvPr id="9" name="Down Arrow 8"/>
          <p:cNvSpPr/>
          <p:nvPr/>
        </p:nvSpPr>
        <p:spPr>
          <a:xfrm>
            <a:off x="3246120" y="3611880"/>
            <a:ext cx="365760" cy="502920"/>
          </a:xfrm>
          <a:prstGeom prst="downArrow">
            <a:avLst/>
          </a:prstGeom>
          <a:solidFill>
            <a:srgbClr val="E1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4206240"/>
            <a:ext cx="4297680" cy="685800"/>
          </a:xfrm>
          <a:prstGeom prst="roundRect">
            <a:avLst>
              <a:gd name="adj" fmla="val 20000"/>
            </a:avLst>
          </a:prstGeom>
          <a:solidFill>
            <a:srgbClr val="E1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INSTANT PRIORITY TRIAGE ALERT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5212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A6B70"/>
                </a:solidFill>
                <a:latin typeface="Segoe UI"/>
              </a:rPr>
              <a:t>Interview pauses → patient jumps the queue</a:t>
            </a:r>
          </a:p>
          <a:p>
            <a:pPr algn="ctr"/>
            <a:r>
              <a:rPr sz="1400" b="0">
                <a:solidFill>
                  <a:srgbClr val="5A6B70"/>
                </a:solidFill>
                <a:latin typeface="Segoe UI"/>
              </a:rPr>
              <a:t>Rule-based — never guessed by an 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691640"/>
            <a:ext cx="484632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82880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B5A59"/>
                </a:solidFill>
                <a:latin typeface="Segoe UI"/>
              </a:rPr>
              <a:t>👨‍⚕️  Physician-in-the-loop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46888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>
                <a:solidFill>
                  <a:srgbClr val="14283A"/>
                </a:solidFill>
                <a:latin typeface="Segoe UI Emoji"/>
              </a:rP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487168"/>
            <a:ext cx="3566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83A"/>
                </a:solidFill>
                <a:latin typeface="Segoe UI"/>
              </a:rPr>
              <a:t>CC → HPI → PMH → Drugs</a:t>
            </a:r>
          </a:p>
          <a:p>
            <a:pPr algn="l"/>
            <a:r>
              <a:rPr sz="1400" b="0">
                <a:solidFill>
                  <a:srgbClr val="14283A"/>
                </a:solidFill>
                <a:latin typeface="Segoe UI"/>
              </a:rPr>
              <a:t>→ Family → ROS 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33756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>
                <a:solidFill>
                  <a:srgbClr val="14283A"/>
                </a:solidFill>
                <a:latin typeface="Segoe UI Emoji"/>
              </a:rPr>
              <a:t>✏️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355848"/>
            <a:ext cx="3566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83A"/>
                </a:solidFill>
                <a:latin typeface="Segoe UI"/>
              </a:rPr>
              <a:t>Every field editable</a:t>
            </a:r>
          </a:p>
          <a:p>
            <a:pPr algn="l"/>
            <a:r>
              <a:rPr sz="1400" b="0">
                <a:solidFill>
                  <a:srgbClr val="14283A"/>
                </a:solidFill>
                <a:latin typeface="Segoe UI"/>
              </a:rPr>
              <a:t>Accept / edit / reject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20624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>
                <a:solidFill>
                  <a:srgbClr val="14283A"/>
                </a:solidFill>
                <a:latin typeface="Segoe UI Emoji"/>
              </a:rPr>
              <a:t>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224528"/>
            <a:ext cx="3566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83A"/>
                </a:solidFill>
                <a:latin typeface="Segoe UI"/>
              </a:rPr>
              <a:t>One-page PDF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507492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>
                <a:solidFill>
                  <a:srgbClr val="14283A"/>
                </a:solidFill>
                <a:latin typeface="Segoe UI Emoji"/>
              </a:rPr>
              <a:t>⚠️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5093208"/>
            <a:ext cx="3566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83A"/>
                </a:solidFill>
                <a:latin typeface="Segoe UI"/>
              </a:rPr>
              <a:t>Draft only — NEVER an</a:t>
            </a:r>
          </a:p>
          <a:p>
            <a:pPr algn="l"/>
            <a:r>
              <a:rPr sz="1400" b="0">
                <a:solidFill>
                  <a:srgbClr val="14283A"/>
                </a:solidFill>
                <a:latin typeface="Segoe UI"/>
              </a:rPr>
              <a:t>autonomous diagnosis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7C7B"/>
                </a:solidFill>
                <a:latin typeface="Segoe UI"/>
              </a:rPr>
              <a:t>PRIVACY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283A"/>
                </a:solidFill>
                <a:latin typeface="Segoe UI"/>
              </a:rPr>
              <a:t>DPDP 2023 + ABDM Compliant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4583" y="2011680"/>
            <a:ext cx="2011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4583" y="2011680"/>
            <a:ext cx="2011680" cy="128016"/>
          </a:xfrm>
          <a:prstGeom prst="rect">
            <a:avLst/>
          </a:prstGeom>
          <a:solidFill>
            <a:srgbClr val="247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4583" y="2331720"/>
            <a:ext cx="20116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400">
                <a:solidFill>
                  <a:srgbClr val="14283A"/>
                </a:solidFill>
                <a:latin typeface="Segoe UI Emoji"/>
              </a:rPr>
              <a:t>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583" y="320040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283A"/>
                </a:solidFill>
                <a:latin typeface="Segoe UI"/>
              </a:rPr>
              <a:t>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735" y="3639312"/>
            <a:ext cx="18653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6B70"/>
                </a:solidFill>
                <a:latin typeface="Segoe UI"/>
              </a:rPr>
              <a:t>ABHA / Aadhaar /</a:t>
            </a:r>
          </a:p>
          <a:p>
            <a:pPr algn="ctr"/>
            <a:r>
              <a:rPr sz="1200" b="0">
                <a:solidFill>
                  <a:srgbClr val="5A6B70"/>
                </a:solidFill>
                <a:latin typeface="Segoe UI"/>
              </a:rPr>
              <a:t>register new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47975" y="3108960"/>
            <a:ext cx="411480" cy="274320"/>
          </a:xfrm>
          <a:prstGeom prst="rightArrow">
            <a:avLst/>
          </a:prstGeom>
          <a:solidFill>
            <a:srgbClr val="5A6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22295" y="2011680"/>
            <a:ext cx="2011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22295" y="2011680"/>
            <a:ext cx="2011680" cy="128016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22295" y="2331720"/>
            <a:ext cx="20116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400">
                <a:solidFill>
                  <a:srgbClr val="14283A"/>
                </a:solidFill>
                <a:latin typeface="Segoe UI Emoji"/>
              </a:rPr>
              <a:t>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2295" y="320040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283A"/>
                </a:solidFill>
                <a:latin typeface="Segoe UI"/>
              </a:rPr>
              <a:t>Audio consent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5447" y="3639312"/>
            <a:ext cx="18653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6B70"/>
                </a:solidFill>
                <a:latin typeface="Segoe UI"/>
              </a:rPr>
              <a:t>For every literacy</a:t>
            </a:r>
          </a:p>
          <a:p>
            <a:pPr algn="ctr"/>
            <a:r>
              <a:rPr sz="1200" b="0">
                <a:solidFill>
                  <a:srgbClr val="5A6B70"/>
                </a:solidFill>
                <a:latin typeface="Segoe UI"/>
              </a:rPr>
              <a:t>level, EN / HI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15687" y="3108960"/>
            <a:ext cx="411480" cy="274320"/>
          </a:xfrm>
          <a:prstGeom prst="rightArrow">
            <a:avLst/>
          </a:prstGeom>
          <a:solidFill>
            <a:srgbClr val="5A6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90007" y="2011680"/>
            <a:ext cx="2011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90007" y="2011680"/>
            <a:ext cx="2011680" cy="128016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0007" y="2331720"/>
            <a:ext cx="20116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400">
                <a:solidFill>
                  <a:srgbClr val="14283A"/>
                </a:solidFill>
                <a:latin typeface="Segoe UI Emoji"/>
              </a:rPr>
              <a:t>☑️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0007" y="320040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283A"/>
                </a:solidFill>
                <a:latin typeface="Segoe UI"/>
              </a:rPr>
              <a:t>Granular toggles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3159" y="3639312"/>
            <a:ext cx="18653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6B70"/>
                </a:solidFill>
                <a:latin typeface="Segoe UI"/>
              </a:rPr>
              <a:t>History • docs • share</a:t>
            </a:r>
          </a:p>
          <a:p>
            <a:pPr algn="ctr"/>
            <a:r>
              <a:rPr sz="1200" b="0">
                <a:solidFill>
                  <a:srgbClr val="5A6B70"/>
                </a:solidFill>
                <a:latin typeface="Segoe UI"/>
              </a:rPr>
              <a:t>Revocable anytime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83399" y="3108960"/>
            <a:ext cx="411480" cy="274320"/>
          </a:xfrm>
          <a:prstGeom prst="rightArrow">
            <a:avLst/>
          </a:prstGeom>
          <a:solidFill>
            <a:srgbClr val="5A6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57719" y="2011680"/>
            <a:ext cx="2011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57719" y="2011680"/>
            <a:ext cx="2011680" cy="128016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7719" y="2331720"/>
            <a:ext cx="20116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400">
                <a:solidFill>
                  <a:srgbClr val="14283A"/>
                </a:solidFill>
                <a:latin typeface="Segoe UI Emoji"/>
              </a:rPr>
              <a:t>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7719" y="320040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283A"/>
                </a:solidFill>
                <a:latin typeface="Segoe UI"/>
              </a:rPr>
              <a:t>FHIR R4 push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0871" y="3639312"/>
            <a:ext cx="18653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6B70"/>
                </a:solidFill>
                <a:latin typeface="Segoe UI"/>
              </a:rPr>
              <a:t>To hospital HIS</a:t>
            </a:r>
          </a:p>
          <a:p>
            <a:pPr algn="ctr"/>
            <a:r>
              <a:rPr sz="1200" b="0">
                <a:solidFill>
                  <a:srgbClr val="5A6B70"/>
                </a:solidFill>
                <a:latin typeface="Segoe UI"/>
              </a:rPr>
              <a:t>linked to ABHA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351111" y="3108960"/>
            <a:ext cx="411480" cy="274320"/>
          </a:xfrm>
          <a:prstGeom prst="rightArrow">
            <a:avLst/>
          </a:prstGeom>
          <a:solidFill>
            <a:srgbClr val="5A6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25431" y="2011680"/>
            <a:ext cx="2011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25431" y="2011680"/>
            <a:ext cx="2011680" cy="128016"/>
          </a:xfrm>
          <a:prstGeom prst="rect">
            <a:avLst/>
          </a:prstGeom>
          <a:solidFill>
            <a:srgbClr val="E1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25431" y="2331720"/>
            <a:ext cx="20116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400">
                <a:solidFill>
                  <a:srgbClr val="14283A"/>
                </a:solidFill>
                <a:latin typeface="Segoe UI Emoji"/>
              </a:rPr>
              <a:t>🗑️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25431" y="320040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283A"/>
                </a:solidFill>
                <a:latin typeface="Segoe UI"/>
              </a:rPr>
              <a:t>Auto purge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8583" y="3639312"/>
            <a:ext cx="18653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6B70"/>
                </a:solidFill>
                <a:latin typeface="Segoe UI"/>
              </a:rPr>
              <a:t>Session wiped after</a:t>
            </a:r>
          </a:p>
          <a:p>
            <a:pPr algn="ctr"/>
            <a:r>
              <a:rPr sz="1200" b="0">
                <a:solidFill>
                  <a:srgbClr val="5A6B70"/>
                </a:solidFill>
                <a:latin typeface="Segoe UI"/>
              </a:rPr>
              <a:t>submission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54480" y="5029200"/>
            <a:ext cx="9052560" cy="105156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28800" y="5175504"/>
            <a:ext cx="8503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🔒  Consent before processing • Data minimisation • No retention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     Physician-in-the-loop by design — never autonomous diagnosis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7C7B"/>
                </a:solidFill>
                <a:latin typeface="Segoe UI"/>
              </a:rPr>
              <a:t>FEASIBILITY &amp; VIABILITY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283A"/>
                </a:solidFill>
                <a:latin typeface="Segoe UI"/>
              </a:rPr>
              <a:t>Built With Proven, Affordable Tech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" cy="960120"/>
          </a:xfrm>
          <a:prstGeom prst="roundRect">
            <a:avLst>
              <a:gd name="adj" fmla="val 50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83A"/>
                </a:solidFill>
                <a:latin typeface="Segoe UI"/>
              </a:rPr>
              <a:t>React + 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B70"/>
                </a:solidFill>
                <a:latin typeface="Segoe UI"/>
              </a:rPr>
              <a:t>✅ Working prototype exists TODAY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88920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788920"/>
            <a:ext cx="109728" cy="960120"/>
          </a:xfrm>
          <a:prstGeom prst="roundRect">
            <a:avLst>
              <a:gd name="adj" fmla="val 50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6207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83A"/>
                </a:solidFill>
                <a:latin typeface="Segoe UI"/>
              </a:rPr>
              <a:t>Gemini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B70"/>
                </a:solidFill>
                <a:latin typeface="Segoe UI"/>
              </a:rPr>
              <a:t>✅ Free-tier friendly, Indian data residency option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886200"/>
            <a:ext cx="109728" cy="960120"/>
          </a:xfrm>
          <a:prstGeom prst="roundRect">
            <a:avLst>
              <a:gd name="adj" fmla="val 50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5935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83A"/>
                </a:solidFill>
                <a:latin typeface="Segoe UI"/>
              </a:rPr>
              <a:t>BeyondPresence avatar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B70"/>
                </a:solidFill>
                <a:latin typeface="Segoe UI"/>
              </a:rPr>
              <a:t>✅ Streaming API, graceful TTS-only fallback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983480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4983480"/>
            <a:ext cx="109728" cy="960120"/>
          </a:xfrm>
          <a:prstGeom prst="roundRect">
            <a:avLst>
              <a:gd name="adj" fmla="val 50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5663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83A"/>
                </a:solidFill>
                <a:latin typeface="Segoe UI"/>
              </a:rPr>
              <a:t>Postgres + Docker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406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B70"/>
                </a:solidFill>
                <a:latin typeface="Segoe UI"/>
              </a:rPr>
              <a:t>✅ Deployable on hospital LAN / cloud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691640"/>
            <a:ext cx="5029200" cy="4251960"/>
          </a:xfrm>
          <a:prstGeom prst="roundRect">
            <a:avLst>
              <a:gd name="adj" fmla="val 8000"/>
            </a:avLst>
          </a:prstGeom>
          <a:solidFill>
            <a:srgbClr val="142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1874519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💰  Cost per kiosk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46888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>
                <a:solidFill>
                  <a:srgbClr val="14283A"/>
                </a:solidFill>
                <a:latin typeface="Segoe UI Emoji"/>
              </a:rPr>
              <a:t>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48716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Touch screen PC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83464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FE8E5"/>
                </a:solidFill>
                <a:latin typeface="Segoe UI"/>
              </a:rPr>
              <a:t>~₹30k one-time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33756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>
                <a:solidFill>
                  <a:srgbClr val="14283A"/>
                </a:solidFill>
                <a:latin typeface="Segoe UI Emoji"/>
              </a:rPr>
              <a:t>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35584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Mic + speakers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70332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FE8E5"/>
                </a:solidFill>
                <a:latin typeface="Segoe UI"/>
              </a:rPr>
              <a:t>~₹2k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0624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>
                <a:solidFill>
                  <a:srgbClr val="14283A"/>
                </a:solidFill>
                <a:latin typeface="Segoe UI Emoji"/>
              </a:rPr>
              <a:t>☁️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422452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API costs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57200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FE8E5"/>
                </a:solidFill>
                <a:latin typeface="Segoe UI"/>
              </a:rPr>
              <a:t>&lt; ₹1 per consult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507492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>
                <a:solidFill>
                  <a:srgbClr val="14283A"/>
                </a:solidFill>
                <a:latin typeface="Segoe UI Emoji"/>
              </a:rPr>
              <a:t>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509320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544068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FE8E5"/>
                </a:solidFill>
                <a:latin typeface="Segoe UI"/>
              </a:rPr>
              <a:t>Existing OPD desk space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E7C7B"/>
                </a:solidFill>
                <a:latin typeface="Segoe UI"/>
              </a:rPr>
              <a:t>No new hardware invention needed — runs on commodity kiosk hardware available today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7C7B"/>
                </a:solidFill>
                <a:latin typeface="Segoe UI"/>
              </a:rPr>
              <a:t>IMPACT &amp;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283A"/>
                </a:solidFill>
                <a:latin typeface="Segoe UI"/>
              </a:rPr>
              <a:t>Who Wins, and How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147" y="1645920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5147" y="1645920"/>
            <a:ext cx="128016" cy="1874519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9467" y="2103120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200">
                <a:solidFill>
                  <a:srgbClr val="14283A"/>
                </a:solidFill>
                <a:latin typeface="Segoe UI Emoji"/>
              </a:rPr>
              <a:t>👨‍⚕️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5307" y="187452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283A"/>
                </a:solidFill>
                <a:latin typeface="Segoe UI"/>
              </a:rPr>
              <a:t>Doctors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5307" y="2331720"/>
            <a:ext cx="2011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B70"/>
                </a:solidFill>
                <a:latin typeface="Segoe UI"/>
              </a:rPr>
              <a:t>Full history before</a:t>
            </a:r>
          </a:p>
          <a:p>
            <a:pPr algn="l"/>
            <a:r>
              <a:rPr sz="1300" b="0">
                <a:solidFill>
                  <a:srgbClr val="5A6B70"/>
                </a:solidFill>
                <a:latin typeface="Segoe UI"/>
              </a:rPr>
              <a:t>patient enters room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5627" y="1645920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5627" y="1645920"/>
            <a:ext cx="128016" cy="1874519"/>
          </a:xfrm>
          <a:prstGeom prst="roundRect">
            <a:avLst>
              <a:gd name="adj" fmla="val 50000"/>
            </a:avLst>
          </a:prstGeom>
          <a:solidFill>
            <a:srgbClr val="247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9947" y="2103120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200">
                <a:solidFill>
                  <a:srgbClr val="14283A"/>
                </a:solidFill>
                <a:latin typeface="Segoe UI Emoji"/>
              </a:rPr>
              <a:t>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15787" y="187452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283A"/>
                </a:solidFill>
                <a:latin typeface="Segoe UI"/>
              </a:rPr>
              <a:t>Patients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15787" y="2331720"/>
            <a:ext cx="2011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B70"/>
                </a:solidFill>
                <a:latin typeface="Segoe UI"/>
              </a:rPr>
              <a:t>Own language,</a:t>
            </a:r>
          </a:p>
          <a:p>
            <a:pPr algn="l"/>
            <a:r>
              <a:rPr sz="1300" b="0">
                <a:solidFill>
                  <a:srgbClr val="5A6B70"/>
                </a:solidFill>
                <a:latin typeface="Segoe UI"/>
              </a:rPr>
              <a:t>zero-literacy usable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6107" y="1645920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76107" y="1645920"/>
            <a:ext cx="128016" cy="1874519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0427" y="2103120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200">
                <a:solidFill>
                  <a:srgbClr val="14283A"/>
                </a:solidFill>
                <a:latin typeface="Segoe UI Emoji"/>
              </a:rPr>
              <a:t>🏛️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56267" y="187452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283A"/>
                </a:solidFill>
                <a:latin typeface="Segoe UI"/>
              </a:rPr>
              <a:t>Hospitals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6267" y="2331720"/>
            <a:ext cx="2011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B70"/>
                </a:solidFill>
                <a:latin typeface="Segoe UI"/>
              </a:rPr>
              <a:t>Digital records without</a:t>
            </a:r>
          </a:p>
          <a:p>
            <a:pPr algn="l"/>
            <a:r>
              <a:rPr sz="1300" b="0">
                <a:solidFill>
                  <a:srgbClr val="5A6B70"/>
                </a:solidFill>
                <a:latin typeface="Segoe UI"/>
              </a:rPr>
              <a:t>changing HIS (FHIR)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5147" y="3840479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95147" y="3840479"/>
            <a:ext cx="128016" cy="1874519"/>
          </a:xfrm>
          <a:prstGeom prst="roundRect">
            <a:avLst>
              <a:gd name="adj" fmla="val 50000"/>
            </a:avLst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467" y="4297679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200">
                <a:solidFill>
                  <a:srgbClr val="14283A"/>
                </a:solidFill>
                <a:latin typeface="Segoe UI Emoji"/>
              </a:rPr>
              <a:t>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75307" y="4069079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283A"/>
                </a:solidFill>
                <a:latin typeface="Segoe UI"/>
              </a:rPr>
              <a:t>AYUSH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75307" y="4526279"/>
            <a:ext cx="2011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B70"/>
                </a:solidFill>
                <a:latin typeface="Segoe UI"/>
              </a:rPr>
              <a:t>Dashavidha Pariksha</a:t>
            </a:r>
          </a:p>
          <a:p>
            <a:pPr algn="l"/>
            <a:r>
              <a:rPr sz="1300" b="0">
                <a:solidFill>
                  <a:srgbClr val="5A6B70"/>
                </a:solidFill>
                <a:latin typeface="Segoe UI"/>
              </a:rPr>
              <a:t>digitised at scale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35627" y="3840479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35627" y="3840479"/>
            <a:ext cx="128016" cy="1874519"/>
          </a:xfrm>
          <a:prstGeom prst="roundRect">
            <a:avLst>
              <a:gd name="adj" fmla="val 50000"/>
            </a:avLst>
          </a:prstGeom>
          <a:solidFill>
            <a:srgbClr val="E1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9947" y="4297679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200">
                <a:solidFill>
                  <a:srgbClr val="14283A"/>
                </a:solidFill>
                <a:latin typeface="Segoe UI Emoji"/>
              </a:rPr>
              <a:t>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15787" y="4069079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283A"/>
                </a:solidFill>
                <a:latin typeface="Segoe UI"/>
              </a:rPr>
              <a:t>Emergencies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15787" y="4526279"/>
            <a:ext cx="2011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B70"/>
                </a:solidFill>
                <a:latin typeface="Segoe UI"/>
              </a:rPr>
              <a:t>Red-flag cases never</a:t>
            </a:r>
          </a:p>
          <a:p>
            <a:pPr algn="l"/>
            <a:r>
              <a:rPr sz="1300" b="0">
                <a:solidFill>
                  <a:srgbClr val="5A6B70"/>
                </a:solidFill>
                <a:latin typeface="Segoe UI"/>
              </a:rPr>
              <a:t>sit in routine queue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76107" y="3840479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76107" y="3840479"/>
            <a:ext cx="128016" cy="1874519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0427" y="4297679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200">
                <a:solidFill>
                  <a:srgbClr val="14283A"/>
                </a:solidFill>
                <a:latin typeface="Segoe UI Emoji"/>
              </a:rPr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56267" y="4069079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283A"/>
                </a:solidFill>
                <a:latin typeface="Segoe UI"/>
              </a:rPr>
              <a:t>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56267" y="4526279"/>
            <a:ext cx="2011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B70"/>
                </a:solidFill>
                <a:latin typeface="Segoe UI"/>
              </a:rPr>
              <a:t>Structured data for</a:t>
            </a:r>
          </a:p>
          <a:p>
            <a:pPr algn="l"/>
            <a:r>
              <a:rPr sz="1300" b="0">
                <a:solidFill>
                  <a:srgbClr val="5A6B70"/>
                </a:solidFill>
                <a:latin typeface="Segoe UI"/>
              </a:rPr>
              <a:t>public health insights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7C7B"/>
                </a:solidFill>
                <a:latin typeface="Segoe UI"/>
              </a:rPr>
              <a:t>🧬 Evaluable: ASR accuracy • OCR field precision/recall • red-flag recall • latency &lt; 2.5 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7C7B"/>
                </a:solidFill>
                <a:latin typeface="Segoe UI"/>
              </a:rPr>
              <a:t>RESEARCH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283A"/>
                </a:solidFill>
                <a:latin typeface="Segoe UI"/>
              </a:rPr>
              <a:t>Grounded In Standards, Not Guesswork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56232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>
                <a:solidFill>
                  <a:srgbClr val="14283A"/>
                </a:solidFill>
                <a:latin typeface="Segoe UI Emoji"/>
              </a:rPr>
              <a:t>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92808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83A"/>
                </a:solidFill>
                <a:latin typeface="Segoe UI"/>
              </a:rPr>
              <a:t>SIH Problem Statement SIH26047 — Ministry of Ayush, Patient Case-Taking Software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32888"/>
            <a:ext cx="106984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>
                <a:solidFill>
                  <a:srgbClr val="14283A"/>
                </a:solidFill>
                <a:latin typeface="Segoe UI Emoji"/>
              </a:rPr>
              <a:t>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42616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83A"/>
                </a:solidFill>
                <a:latin typeface="Segoe UI"/>
              </a:rPr>
              <a:t>HL7 FHIR R4 — Patient, Observation &amp; DocumentReference resources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82696"/>
            <a:ext cx="106984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55848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>
                <a:solidFill>
                  <a:srgbClr val="14283A"/>
                </a:solidFill>
                <a:latin typeface="Segoe UI Emoji"/>
              </a:rPr>
              <a:t>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392424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83A"/>
                </a:solidFill>
                <a:latin typeface="Segoe UI"/>
              </a:rPr>
              <a:t>DPDP Act 2023 + ABDM consent framework &amp; Sandbox documentation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32504"/>
            <a:ext cx="106984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105656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>
                <a:solidFill>
                  <a:srgbClr val="14283A"/>
                </a:solidFill>
                <a:latin typeface="Segoe UI Emoji"/>
              </a:rPr>
              <a:t>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142232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83A"/>
                </a:solidFill>
                <a:latin typeface="Segoe UI"/>
              </a:rPr>
              <a:t>SOCRATES symptom framework • Ayurveda Dashavidha Pariksha literature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82312"/>
            <a:ext cx="106984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855464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>
                <a:solidFill>
                  <a:srgbClr val="14283A"/>
                </a:solidFill>
                <a:latin typeface="Segoe UI Emoji"/>
              </a:rP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8920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83A"/>
                </a:solidFill>
                <a:latin typeface="Segoe UI"/>
              </a:rPr>
              <a:t>Bhashini / AI4Bharat Indic ASR-TTS APIs (named in PS)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532120"/>
            <a:ext cx="106984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605272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>
                <a:solidFill>
                  <a:srgbClr val="14283A"/>
                </a:solidFill>
                <a:latin typeface="Segoe UI Emoji"/>
              </a:rPr>
              <a:t>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641848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83A"/>
                </a:solidFill>
                <a:latin typeface="Segoe UI"/>
              </a:rPr>
              <a:t>Gemini VLM document-extraction benchmarks on handwritten prescriptions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77440" y="6263640"/>
            <a:ext cx="7406640" cy="50292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🚀 MediKiosk — History-taking in seconds, care in minutes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